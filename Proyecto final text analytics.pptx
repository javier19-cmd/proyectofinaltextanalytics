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53F09A-583F-46D8-93D3-6AFEE64F802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5A5826-784E-4F97-AEB8-6FC5EE3AC5EE}">
      <dgm:prSet/>
      <dgm:spPr/>
      <dgm:t>
        <a:bodyPr/>
        <a:lstStyle/>
        <a:p>
          <a:r>
            <a:rPr lang="en-US" b="1"/>
            <a:t>Objetivo Técnico</a:t>
          </a:r>
          <a:endParaRPr lang="en-US"/>
        </a:p>
      </dgm:t>
    </dgm:pt>
    <dgm:pt modelId="{D12C3E2C-ACEB-45BC-AF06-707D4C16565F}" type="parTrans" cxnId="{F5AF10E9-FB4D-43B8-8305-BDD96AF41840}">
      <dgm:prSet/>
      <dgm:spPr/>
      <dgm:t>
        <a:bodyPr/>
        <a:lstStyle/>
        <a:p>
          <a:endParaRPr lang="en-US"/>
        </a:p>
      </dgm:t>
    </dgm:pt>
    <dgm:pt modelId="{EF8D83B6-C10D-4066-90ED-41A038A23315}" type="sibTrans" cxnId="{F5AF10E9-FB4D-43B8-8305-BDD96AF41840}">
      <dgm:prSet/>
      <dgm:spPr/>
      <dgm:t>
        <a:bodyPr/>
        <a:lstStyle/>
        <a:p>
          <a:endParaRPr lang="en-US"/>
        </a:p>
      </dgm:t>
    </dgm:pt>
    <dgm:pt modelId="{ECAD9A5E-9A5C-426A-96F2-7093E99CC62D}">
      <dgm:prSet/>
      <dgm:spPr/>
      <dgm:t>
        <a:bodyPr/>
        <a:lstStyle/>
        <a:p>
          <a:r>
            <a:rPr lang="en-US"/>
            <a:t>Determinar la capacidad de tres arquitecturas de IA para distinguir matices emocionales finos (</a:t>
          </a:r>
          <a:r>
            <a:rPr lang="en-US" i="1"/>
            <a:t>Extremo</a:t>
          </a:r>
          <a:r>
            <a:rPr lang="en-US"/>
            <a:t> vs. </a:t>
          </a:r>
          <a:r>
            <a:rPr lang="en-US" i="1"/>
            <a:t>Regular</a:t>
          </a:r>
          <a:r>
            <a:rPr lang="en-US"/>
            <a:t>) en el comportamiento del consumidor.</a:t>
          </a:r>
        </a:p>
      </dgm:t>
    </dgm:pt>
    <dgm:pt modelId="{C97819D0-E026-4355-A41A-3D3CDB1CB8EC}" type="parTrans" cxnId="{3FA6FFEC-6031-48F0-B66A-D134EB00D17F}">
      <dgm:prSet/>
      <dgm:spPr/>
      <dgm:t>
        <a:bodyPr/>
        <a:lstStyle/>
        <a:p>
          <a:endParaRPr lang="en-US"/>
        </a:p>
      </dgm:t>
    </dgm:pt>
    <dgm:pt modelId="{A084E6D8-A134-4196-BAA9-9E5153479217}" type="sibTrans" cxnId="{3FA6FFEC-6031-48F0-B66A-D134EB00D17F}">
      <dgm:prSet/>
      <dgm:spPr/>
      <dgm:t>
        <a:bodyPr/>
        <a:lstStyle/>
        <a:p>
          <a:endParaRPr lang="en-US"/>
        </a:p>
      </dgm:t>
    </dgm:pt>
    <dgm:pt modelId="{9774BB44-633B-42A1-A99C-B60F3BA9AA1F}">
      <dgm:prSet/>
      <dgm:spPr/>
      <dgm:t>
        <a:bodyPr/>
        <a:lstStyle/>
        <a:p>
          <a:r>
            <a:rPr lang="en-US" b="1"/>
            <a:t>Resultados del Benchmarking</a:t>
          </a:r>
          <a:endParaRPr lang="en-US"/>
        </a:p>
      </dgm:t>
    </dgm:pt>
    <dgm:pt modelId="{F313E755-D5F9-42C6-A0C6-605B5BA0DAB1}" type="parTrans" cxnId="{16D262B0-55D7-439A-A025-5580C365FDFE}">
      <dgm:prSet/>
      <dgm:spPr/>
      <dgm:t>
        <a:bodyPr/>
        <a:lstStyle/>
        <a:p>
          <a:endParaRPr lang="en-US"/>
        </a:p>
      </dgm:t>
    </dgm:pt>
    <dgm:pt modelId="{8214933C-5C4E-4EAC-A976-2695541BB802}" type="sibTrans" cxnId="{16D262B0-55D7-439A-A025-5580C365FDFE}">
      <dgm:prSet/>
      <dgm:spPr/>
      <dgm:t>
        <a:bodyPr/>
        <a:lstStyle/>
        <a:p>
          <a:endParaRPr lang="en-US"/>
        </a:p>
      </dgm:t>
    </dgm:pt>
    <dgm:pt modelId="{F2E74C07-98DC-462F-9D1D-2CBB3EE82D19}">
      <dgm:prSet/>
      <dgm:spPr/>
      <dgm:t>
        <a:bodyPr/>
        <a:lstStyle/>
        <a:p>
          <a:r>
            <a:rPr lang="en-US"/>
            <a:t>Se comparó el desempeño de modelos estadísticos, lineales y de aprendizaje profundo:</a:t>
          </a:r>
        </a:p>
      </dgm:t>
    </dgm:pt>
    <dgm:pt modelId="{72B3D9E1-7A25-4E4C-9394-11AFCEFBFBB3}" type="parTrans" cxnId="{C1222658-4663-4F64-947B-854A1F6748CC}">
      <dgm:prSet/>
      <dgm:spPr/>
      <dgm:t>
        <a:bodyPr/>
        <a:lstStyle/>
        <a:p>
          <a:endParaRPr lang="en-US"/>
        </a:p>
      </dgm:t>
    </dgm:pt>
    <dgm:pt modelId="{D8726261-A40D-40F1-AE55-5B296A8BE061}" type="sibTrans" cxnId="{C1222658-4663-4F64-947B-854A1F6748CC}">
      <dgm:prSet/>
      <dgm:spPr/>
      <dgm:t>
        <a:bodyPr/>
        <a:lstStyle/>
        <a:p>
          <a:endParaRPr lang="en-US"/>
        </a:p>
      </dgm:t>
    </dgm:pt>
    <dgm:pt modelId="{DC51C6FC-8B5C-43D5-8605-318C0268442D}">
      <dgm:prSet/>
      <dgm:spPr/>
      <dgm:t>
        <a:bodyPr/>
        <a:lstStyle/>
        <a:p>
          <a:r>
            <a:rPr lang="en-US" b="1"/>
            <a:t>Naïve Bayes (Accuracy 43%):</a:t>
          </a:r>
          <a:r>
            <a:rPr lang="en-US"/>
            <a:t> Funcionó como línea base. Mostró una tendencia conservadora, fallando significativamente en detectar los "Extremos", lo cual es crítico para identificar crisis reales.</a:t>
          </a:r>
        </a:p>
      </dgm:t>
    </dgm:pt>
    <dgm:pt modelId="{9557B72C-DB6D-43AC-8C8C-3B34026A1352}" type="parTrans" cxnId="{C2E46431-A0D0-4C97-BF66-BF0AB8B3147B}">
      <dgm:prSet/>
      <dgm:spPr/>
      <dgm:t>
        <a:bodyPr/>
        <a:lstStyle/>
        <a:p>
          <a:endParaRPr lang="en-US"/>
        </a:p>
      </dgm:t>
    </dgm:pt>
    <dgm:pt modelId="{221DD9DE-3FF0-4B61-9243-60148539492D}" type="sibTrans" cxnId="{C2E46431-A0D0-4C97-BF66-BF0AB8B3147B}">
      <dgm:prSet/>
      <dgm:spPr/>
      <dgm:t>
        <a:bodyPr/>
        <a:lstStyle/>
        <a:p>
          <a:endParaRPr lang="en-US"/>
        </a:p>
      </dgm:t>
    </dgm:pt>
    <dgm:pt modelId="{E826B8BE-9783-4680-9637-48ED3F564E64}">
      <dgm:prSet/>
      <dgm:spPr/>
      <dgm:t>
        <a:bodyPr/>
        <a:lstStyle/>
        <a:p>
          <a:r>
            <a:rPr lang="en-US" b="1" dirty="0"/>
            <a:t>Deep Learning (Accuracy 53%):</a:t>
          </a:r>
          <a:r>
            <a:rPr lang="en-US" dirty="0"/>
            <a:t> La Red Neuronal </a:t>
          </a:r>
          <a:r>
            <a:rPr lang="en-US" dirty="0" err="1"/>
            <a:t>demostró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capacidad</a:t>
          </a:r>
          <a:r>
            <a:rPr lang="en-US" dirty="0"/>
            <a:t> superior para </a:t>
          </a:r>
          <a:r>
            <a:rPr lang="en-US" dirty="0" err="1"/>
            <a:t>captar</a:t>
          </a:r>
          <a:r>
            <a:rPr lang="en-US" dirty="0"/>
            <a:t> </a:t>
          </a:r>
          <a:r>
            <a:rPr lang="en-US" dirty="0" err="1"/>
            <a:t>patrones</a:t>
          </a:r>
          <a:r>
            <a:rPr lang="en-US" dirty="0"/>
            <a:t> </a:t>
          </a:r>
          <a:r>
            <a:rPr lang="en-US" dirty="0" err="1"/>
            <a:t>complejos</a:t>
          </a:r>
          <a:r>
            <a:rPr lang="en-US" dirty="0"/>
            <a:t>, </a:t>
          </a:r>
          <a:r>
            <a:rPr lang="en-US" dirty="0" err="1"/>
            <a:t>superando</a:t>
          </a:r>
          <a:r>
            <a:rPr lang="en-US" dirty="0"/>
            <a:t> al </a:t>
          </a:r>
          <a:r>
            <a:rPr lang="en-US" dirty="0" err="1"/>
            <a:t>modelo</a:t>
          </a:r>
          <a:r>
            <a:rPr lang="en-US" dirty="0"/>
            <a:t> base </a:t>
          </a:r>
          <a:r>
            <a:rPr lang="en-US" dirty="0" err="1"/>
            <a:t>por</a:t>
          </a:r>
          <a:r>
            <a:rPr lang="en-US" dirty="0"/>
            <a:t> un 10%, </a:t>
          </a:r>
          <a:r>
            <a:rPr lang="en-US" dirty="0" err="1"/>
            <a:t>aunque</a:t>
          </a:r>
          <a:r>
            <a:rPr lang="en-US" dirty="0"/>
            <a:t> con un </a:t>
          </a:r>
          <a:r>
            <a:rPr lang="en-US" dirty="0" err="1"/>
            <a:t>costo</a:t>
          </a:r>
          <a:r>
            <a:rPr lang="en-US" dirty="0"/>
            <a:t> </a:t>
          </a:r>
          <a:r>
            <a:rPr lang="en-US" dirty="0" err="1"/>
            <a:t>computacional</a:t>
          </a:r>
          <a:r>
            <a:rPr lang="en-US" dirty="0"/>
            <a:t> mayor.</a:t>
          </a:r>
        </a:p>
      </dgm:t>
    </dgm:pt>
    <dgm:pt modelId="{07A09A73-A2AE-4ED8-A5EE-2FECB0DDCB78}" type="parTrans" cxnId="{88FDE7DF-C25F-48A3-9D8F-1AC4494765F6}">
      <dgm:prSet/>
      <dgm:spPr/>
      <dgm:t>
        <a:bodyPr/>
        <a:lstStyle/>
        <a:p>
          <a:endParaRPr lang="en-US"/>
        </a:p>
      </dgm:t>
    </dgm:pt>
    <dgm:pt modelId="{5D615045-5858-4036-8FE1-1E0E7EC53493}" type="sibTrans" cxnId="{88FDE7DF-C25F-48A3-9D8F-1AC4494765F6}">
      <dgm:prSet/>
      <dgm:spPr/>
      <dgm:t>
        <a:bodyPr/>
        <a:lstStyle/>
        <a:p>
          <a:endParaRPr lang="en-US"/>
        </a:p>
      </dgm:t>
    </dgm:pt>
    <dgm:pt modelId="{713CD92E-F184-4A13-998A-FC2EF24AC4C7}">
      <dgm:prSet/>
      <dgm:spPr/>
      <dgm:t>
        <a:bodyPr/>
        <a:lstStyle/>
        <a:p>
          <a:r>
            <a:rPr lang="en-US" b="1"/>
            <a:t>SVM - LinearSVC (Accuracy 55%):</a:t>
          </a:r>
          <a:r>
            <a:rPr lang="en-US"/>
            <a:t> Resultó ser el modelo más robusto para esta granularidad, logrando el mejor equilibrio entre precisión y tiempo de respuesta.</a:t>
          </a:r>
        </a:p>
      </dgm:t>
    </dgm:pt>
    <dgm:pt modelId="{B2E13B37-4FBD-4940-9736-136F30374816}" type="parTrans" cxnId="{F4283E1F-4AC2-4942-99A3-4BD3894117DC}">
      <dgm:prSet/>
      <dgm:spPr/>
      <dgm:t>
        <a:bodyPr/>
        <a:lstStyle/>
        <a:p>
          <a:endParaRPr lang="en-US"/>
        </a:p>
      </dgm:t>
    </dgm:pt>
    <dgm:pt modelId="{C9F9AD38-8D13-4A0D-B49B-82D73704E0F8}" type="sibTrans" cxnId="{F4283E1F-4AC2-4942-99A3-4BD3894117DC}">
      <dgm:prSet/>
      <dgm:spPr/>
      <dgm:t>
        <a:bodyPr/>
        <a:lstStyle/>
        <a:p>
          <a:endParaRPr lang="en-US"/>
        </a:p>
      </dgm:t>
    </dgm:pt>
    <dgm:pt modelId="{ED7E0E47-57AA-4F1E-A0C1-5903B58C13E8}" type="pres">
      <dgm:prSet presAssocID="{D353F09A-583F-46D8-93D3-6AFEE64F8026}" presName="Name0" presStyleCnt="0">
        <dgm:presLayoutVars>
          <dgm:dir/>
          <dgm:animLvl val="lvl"/>
          <dgm:resizeHandles val="exact"/>
        </dgm:presLayoutVars>
      </dgm:prSet>
      <dgm:spPr/>
    </dgm:pt>
    <dgm:pt modelId="{240BE6C7-D181-417E-8E12-9FB94A32676E}" type="pres">
      <dgm:prSet presAssocID="{565A5826-784E-4F97-AEB8-6FC5EE3AC5EE}" presName="linNode" presStyleCnt="0"/>
      <dgm:spPr/>
    </dgm:pt>
    <dgm:pt modelId="{9EBAB14C-AA6A-4E63-903E-FD54981C1118}" type="pres">
      <dgm:prSet presAssocID="{565A5826-784E-4F97-AEB8-6FC5EE3AC5E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FC1D35B-5B6A-4D04-AB30-73EB1C45BB7D}" type="pres">
      <dgm:prSet presAssocID="{565A5826-784E-4F97-AEB8-6FC5EE3AC5EE}" presName="descendantText" presStyleLbl="alignAccFollowNode1" presStyleIdx="0" presStyleCnt="2">
        <dgm:presLayoutVars>
          <dgm:bulletEnabled val="1"/>
        </dgm:presLayoutVars>
      </dgm:prSet>
      <dgm:spPr/>
    </dgm:pt>
    <dgm:pt modelId="{09E1DB57-D1DD-4987-A094-614E96E0B3BE}" type="pres">
      <dgm:prSet presAssocID="{EF8D83B6-C10D-4066-90ED-41A038A23315}" presName="sp" presStyleCnt="0"/>
      <dgm:spPr/>
    </dgm:pt>
    <dgm:pt modelId="{0C676153-088B-478B-A44E-FEA8EB6AFFDD}" type="pres">
      <dgm:prSet presAssocID="{9774BB44-633B-42A1-A99C-B60F3BA9AA1F}" presName="linNode" presStyleCnt="0"/>
      <dgm:spPr/>
    </dgm:pt>
    <dgm:pt modelId="{FEDCDB1F-A1BD-45A0-8921-04823BF64439}" type="pres">
      <dgm:prSet presAssocID="{9774BB44-633B-42A1-A99C-B60F3BA9AA1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741D07AF-A4AD-4AE3-8C30-849217CF8D25}" type="pres">
      <dgm:prSet presAssocID="{9774BB44-633B-42A1-A99C-B60F3BA9AA1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F9A7809-7360-4890-9FBA-588E438144E2}" type="presOf" srcId="{ECAD9A5E-9A5C-426A-96F2-7093E99CC62D}" destId="{2FC1D35B-5B6A-4D04-AB30-73EB1C45BB7D}" srcOrd="0" destOrd="0" presId="urn:microsoft.com/office/officeart/2005/8/layout/vList5"/>
    <dgm:cxn modelId="{5BA7500A-C7D5-4496-B683-13FF6A8DE1F2}" type="presOf" srcId="{565A5826-784E-4F97-AEB8-6FC5EE3AC5EE}" destId="{9EBAB14C-AA6A-4E63-903E-FD54981C1118}" srcOrd="0" destOrd="0" presId="urn:microsoft.com/office/officeart/2005/8/layout/vList5"/>
    <dgm:cxn modelId="{F4283E1F-4AC2-4942-99A3-4BD3894117DC}" srcId="{F2E74C07-98DC-462F-9D1D-2CBB3EE82D19}" destId="{713CD92E-F184-4A13-998A-FC2EF24AC4C7}" srcOrd="2" destOrd="0" parTransId="{B2E13B37-4FBD-4940-9736-136F30374816}" sibTransId="{C9F9AD38-8D13-4A0D-B49B-82D73704E0F8}"/>
    <dgm:cxn modelId="{05AE1D2B-3E70-445D-9620-CF8AC28C42B5}" type="presOf" srcId="{713CD92E-F184-4A13-998A-FC2EF24AC4C7}" destId="{741D07AF-A4AD-4AE3-8C30-849217CF8D25}" srcOrd="0" destOrd="3" presId="urn:microsoft.com/office/officeart/2005/8/layout/vList5"/>
    <dgm:cxn modelId="{C2E46431-A0D0-4C97-BF66-BF0AB8B3147B}" srcId="{F2E74C07-98DC-462F-9D1D-2CBB3EE82D19}" destId="{DC51C6FC-8B5C-43D5-8605-318C0268442D}" srcOrd="0" destOrd="0" parTransId="{9557B72C-DB6D-43AC-8C8C-3B34026A1352}" sibTransId="{221DD9DE-3FF0-4B61-9243-60148539492D}"/>
    <dgm:cxn modelId="{8B47523B-A464-41FD-85C8-8EB5FAA16D5E}" type="presOf" srcId="{E826B8BE-9783-4680-9637-48ED3F564E64}" destId="{741D07AF-A4AD-4AE3-8C30-849217CF8D25}" srcOrd="0" destOrd="2" presId="urn:microsoft.com/office/officeart/2005/8/layout/vList5"/>
    <dgm:cxn modelId="{F3045969-45C4-4CC7-9640-285986B678E1}" type="presOf" srcId="{DC51C6FC-8B5C-43D5-8605-318C0268442D}" destId="{741D07AF-A4AD-4AE3-8C30-849217CF8D25}" srcOrd="0" destOrd="1" presId="urn:microsoft.com/office/officeart/2005/8/layout/vList5"/>
    <dgm:cxn modelId="{4E253E6C-23A5-4D29-93E0-3DAA3AF5A908}" type="presOf" srcId="{D353F09A-583F-46D8-93D3-6AFEE64F8026}" destId="{ED7E0E47-57AA-4F1E-A0C1-5903B58C13E8}" srcOrd="0" destOrd="0" presId="urn:microsoft.com/office/officeart/2005/8/layout/vList5"/>
    <dgm:cxn modelId="{2618C850-FF96-4935-909A-646C14022EAE}" type="presOf" srcId="{F2E74C07-98DC-462F-9D1D-2CBB3EE82D19}" destId="{741D07AF-A4AD-4AE3-8C30-849217CF8D25}" srcOrd="0" destOrd="0" presId="urn:microsoft.com/office/officeart/2005/8/layout/vList5"/>
    <dgm:cxn modelId="{C1222658-4663-4F64-947B-854A1F6748CC}" srcId="{9774BB44-633B-42A1-A99C-B60F3BA9AA1F}" destId="{F2E74C07-98DC-462F-9D1D-2CBB3EE82D19}" srcOrd="0" destOrd="0" parTransId="{72B3D9E1-7A25-4E4C-9394-11AFCEFBFBB3}" sibTransId="{D8726261-A40D-40F1-AE55-5B296A8BE061}"/>
    <dgm:cxn modelId="{16D262B0-55D7-439A-A025-5580C365FDFE}" srcId="{D353F09A-583F-46D8-93D3-6AFEE64F8026}" destId="{9774BB44-633B-42A1-A99C-B60F3BA9AA1F}" srcOrd="1" destOrd="0" parTransId="{F313E755-D5F9-42C6-A0C6-605B5BA0DAB1}" sibTransId="{8214933C-5C4E-4EAC-A976-2695541BB802}"/>
    <dgm:cxn modelId="{1782DBC5-F400-43F5-ABD0-A45D51E7F9AB}" type="presOf" srcId="{9774BB44-633B-42A1-A99C-B60F3BA9AA1F}" destId="{FEDCDB1F-A1BD-45A0-8921-04823BF64439}" srcOrd="0" destOrd="0" presId="urn:microsoft.com/office/officeart/2005/8/layout/vList5"/>
    <dgm:cxn modelId="{88FDE7DF-C25F-48A3-9D8F-1AC4494765F6}" srcId="{F2E74C07-98DC-462F-9D1D-2CBB3EE82D19}" destId="{E826B8BE-9783-4680-9637-48ED3F564E64}" srcOrd="1" destOrd="0" parTransId="{07A09A73-A2AE-4ED8-A5EE-2FECB0DDCB78}" sibTransId="{5D615045-5858-4036-8FE1-1E0E7EC53493}"/>
    <dgm:cxn modelId="{F5AF10E9-FB4D-43B8-8305-BDD96AF41840}" srcId="{D353F09A-583F-46D8-93D3-6AFEE64F8026}" destId="{565A5826-784E-4F97-AEB8-6FC5EE3AC5EE}" srcOrd="0" destOrd="0" parTransId="{D12C3E2C-ACEB-45BC-AF06-707D4C16565F}" sibTransId="{EF8D83B6-C10D-4066-90ED-41A038A23315}"/>
    <dgm:cxn modelId="{3FA6FFEC-6031-48F0-B66A-D134EB00D17F}" srcId="{565A5826-784E-4F97-AEB8-6FC5EE3AC5EE}" destId="{ECAD9A5E-9A5C-426A-96F2-7093E99CC62D}" srcOrd="0" destOrd="0" parTransId="{C97819D0-E026-4355-A41A-3D3CDB1CB8EC}" sibTransId="{A084E6D8-A134-4196-BAA9-9E5153479217}"/>
    <dgm:cxn modelId="{E4DACD4E-397F-4BD4-9ACA-A694F74ADF5C}" type="presParOf" srcId="{ED7E0E47-57AA-4F1E-A0C1-5903B58C13E8}" destId="{240BE6C7-D181-417E-8E12-9FB94A32676E}" srcOrd="0" destOrd="0" presId="urn:microsoft.com/office/officeart/2005/8/layout/vList5"/>
    <dgm:cxn modelId="{29DD09E3-017E-4268-AF28-7A1B7C5872CA}" type="presParOf" srcId="{240BE6C7-D181-417E-8E12-9FB94A32676E}" destId="{9EBAB14C-AA6A-4E63-903E-FD54981C1118}" srcOrd="0" destOrd="0" presId="urn:microsoft.com/office/officeart/2005/8/layout/vList5"/>
    <dgm:cxn modelId="{51FB9133-A36C-4532-B568-5C21FC4FDF55}" type="presParOf" srcId="{240BE6C7-D181-417E-8E12-9FB94A32676E}" destId="{2FC1D35B-5B6A-4D04-AB30-73EB1C45BB7D}" srcOrd="1" destOrd="0" presId="urn:microsoft.com/office/officeart/2005/8/layout/vList5"/>
    <dgm:cxn modelId="{2B98FAB9-73D1-454D-9E5E-CA98D7688A60}" type="presParOf" srcId="{ED7E0E47-57AA-4F1E-A0C1-5903B58C13E8}" destId="{09E1DB57-D1DD-4987-A094-614E96E0B3BE}" srcOrd="1" destOrd="0" presId="urn:microsoft.com/office/officeart/2005/8/layout/vList5"/>
    <dgm:cxn modelId="{4BB92F29-5DD6-4375-8B5D-0E5909FEF409}" type="presParOf" srcId="{ED7E0E47-57AA-4F1E-A0C1-5903B58C13E8}" destId="{0C676153-088B-478B-A44E-FEA8EB6AFFDD}" srcOrd="2" destOrd="0" presId="urn:microsoft.com/office/officeart/2005/8/layout/vList5"/>
    <dgm:cxn modelId="{0B88B75D-1F79-4B5E-9A14-363D1C04D48C}" type="presParOf" srcId="{0C676153-088B-478B-A44E-FEA8EB6AFFDD}" destId="{FEDCDB1F-A1BD-45A0-8921-04823BF64439}" srcOrd="0" destOrd="0" presId="urn:microsoft.com/office/officeart/2005/8/layout/vList5"/>
    <dgm:cxn modelId="{3CC5FEB5-69E2-4972-81BC-9C6191EEB6A8}" type="presParOf" srcId="{0C676153-088B-478B-A44E-FEA8EB6AFFDD}" destId="{741D07AF-A4AD-4AE3-8C30-849217CF8D2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53F09A-583F-46D8-93D3-6AFEE64F802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5A5826-784E-4F97-AEB8-6FC5EE3AC5EE}">
      <dgm:prSet/>
      <dgm:spPr/>
      <dgm:t>
        <a:bodyPr/>
        <a:lstStyle/>
        <a:p>
          <a:r>
            <a:rPr lang="en-US" b="1"/>
            <a:t>Objetivo Técnico</a:t>
          </a:r>
          <a:endParaRPr lang="en-US"/>
        </a:p>
      </dgm:t>
    </dgm:pt>
    <dgm:pt modelId="{D12C3E2C-ACEB-45BC-AF06-707D4C16565F}" type="parTrans" cxnId="{F5AF10E9-FB4D-43B8-8305-BDD96AF41840}">
      <dgm:prSet/>
      <dgm:spPr/>
      <dgm:t>
        <a:bodyPr/>
        <a:lstStyle/>
        <a:p>
          <a:endParaRPr lang="en-US"/>
        </a:p>
      </dgm:t>
    </dgm:pt>
    <dgm:pt modelId="{EF8D83B6-C10D-4066-90ED-41A038A23315}" type="sibTrans" cxnId="{F5AF10E9-FB4D-43B8-8305-BDD96AF41840}">
      <dgm:prSet/>
      <dgm:spPr/>
      <dgm:t>
        <a:bodyPr/>
        <a:lstStyle/>
        <a:p>
          <a:endParaRPr lang="en-US"/>
        </a:p>
      </dgm:t>
    </dgm:pt>
    <dgm:pt modelId="{ECAD9A5E-9A5C-426A-96F2-7093E99CC62D}">
      <dgm:prSet/>
      <dgm:spPr/>
      <dgm:t>
        <a:bodyPr/>
        <a:lstStyle/>
        <a:p>
          <a:r>
            <a:rPr lang="en-US"/>
            <a:t>Determinar la capacidad de tres arquitecturas de IA para distinguir matices emocionales finos (</a:t>
          </a:r>
          <a:r>
            <a:rPr lang="en-US" i="1"/>
            <a:t>Extremo</a:t>
          </a:r>
          <a:r>
            <a:rPr lang="en-US"/>
            <a:t> vs. </a:t>
          </a:r>
          <a:r>
            <a:rPr lang="en-US" i="1"/>
            <a:t>Regular</a:t>
          </a:r>
          <a:r>
            <a:rPr lang="en-US"/>
            <a:t>) en el comportamiento del consumidor.</a:t>
          </a:r>
        </a:p>
      </dgm:t>
    </dgm:pt>
    <dgm:pt modelId="{C97819D0-E026-4355-A41A-3D3CDB1CB8EC}" type="parTrans" cxnId="{3FA6FFEC-6031-48F0-B66A-D134EB00D17F}">
      <dgm:prSet/>
      <dgm:spPr/>
      <dgm:t>
        <a:bodyPr/>
        <a:lstStyle/>
        <a:p>
          <a:endParaRPr lang="en-US"/>
        </a:p>
      </dgm:t>
    </dgm:pt>
    <dgm:pt modelId="{A084E6D8-A134-4196-BAA9-9E5153479217}" type="sibTrans" cxnId="{3FA6FFEC-6031-48F0-B66A-D134EB00D17F}">
      <dgm:prSet/>
      <dgm:spPr/>
      <dgm:t>
        <a:bodyPr/>
        <a:lstStyle/>
        <a:p>
          <a:endParaRPr lang="en-US"/>
        </a:p>
      </dgm:t>
    </dgm:pt>
    <dgm:pt modelId="{9774BB44-633B-42A1-A99C-B60F3BA9AA1F}">
      <dgm:prSet/>
      <dgm:spPr/>
      <dgm:t>
        <a:bodyPr/>
        <a:lstStyle/>
        <a:p>
          <a:r>
            <a:rPr lang="en-US" b="1"/>
            <a:t>Resultados del Benchmarking</a:t>
          </a:r>
          <a:endParaRPr lang="en-US"/>
        </a:p>
      </dgm:t>
    </dgm:pt>
    <dgm:pt modelId="{F313E755-D5F9-42C6-A0C6-605B5BA0DAB1}" type="parTrans" cxnId="{16D262B0-55D7-439A-A025-5580C365FDFE}">
      <dgm:prSet/>
      <dgm:spPr/>
      <dgm:t>
        <a:bodyPr/>
        <a:lstStyle/>
        <a:p>
          <a:endParaRPr lang="en-US"/>
        </a:p>
      </dgm:t>
    </dgm:pt>
    <dgm:pt modelId="{8214933C-5C4E-4EAC-A976-2695541BB802}" type="sibTrans" cxnId="{16D262B0-55D7-439A-A025-5580C365FDFE}">
      <dgm:prSet/>
      <dgm:spPr/>
      <dgm:t>
        <a:bodyPr/>
        <a:lstStyle/>
        <a:p>
          <a:endParaRPr lang="en-US"/>
        </a:p>
      </dgm:t>
    </dgm:pt>
    <dgm:pt modelId="{F2E74C07-98DC-462F-9D1D-2CBB3EE82D19}">
      <dgm:prSet/>
      <dgm:spPr/>
      <dgm:t>
        <a:bodyPr/>
        <a:lstStyle/>
        <a:p>
          <a:r>
            <a:rPr lang="en-US"/>
            <a:t>Se comparó el desempeño de modelos estadísticos, lineales y de aprendizaje profundo:</a:t>
          </a:r>
        </a:p>
      </dgm:t>
    </dgm:pt>
    <dgm:pt modelId="{72B3D9E1-7A25-4E4C-9394-11AFCEFBFBB3}" type="parTrans" cxnId="{C1222658-4663-4F64-947B-854A1F6748CC}">
      <dgm:prSet/>
      <dgm:spPr/>
      <dgm:t>
        <a:bodyPr/>
        <a:lstStyle/>
        <a:p>
          <a:endParaRPr lang="en-US"/>
        </a:p>
      </dgm:t>
    </dgm:pt>
    <dgm:pt modelId="{D8726261-A40D-40F1-AE55-5B296A8BE061}" type="sibTrans" cxnId="{C1222658-4663-4F64-947B-854A1F6748CC}">
      <dgm:prSet/>
      <dgm:spPr/>
      <dgm:t>
        <a:bodyPr/>
        <a:lstStyle/>
        <a:p>
          <a:endParaRPr lang="en-US"/>
        </a:p>
      </dgm:t>
    </dgm:pt>
    <dgm:pt modelId="{DC51C6FC-8B5C-43D5-8605-318C0268442D}">
      <dgm:prSet/>
      <dgm:spPr/>
      <dgm:t>
        <a:bodyPr/>
        <a:lstStyle/>
        <a:p>
          <a:r>
            <a:rPr lang="en-US" b="1"/>
            <a:t>Naïve Bayes (Accuracy 43%):</a:t>
          </a:r>
          <a:r>
            <a:rPr lang="en-US"/>
            <a:t> Funcionó como línea base. Mostró una tendencia conservadora, fallando significativamente en detectar los "Extremos", lo cual es crítico para identificar crisis reales.</a:t>
          </a:r>
        </a:p>
      </dgm:t>
    </dgm:pt>
    <dgm:pt modelId="{9557B72C-DB6D-43AC-8C8C-3B34026A1352}" type="parTrans" cxnId="{C2E46431-A0D0-4C97-BF66-BF0AB8B3147B}">
      <dgm:prSet/>
      <dgm:spPr/>
      <dgm:t>
        <a:bodyPr/>
        <a:lstStyle/>
        <a:p>
          <a:endParaRPr lang="en-US"/>
        </a:p>
      </dgm:t>
    </dgm:pt>
    <dgm:pt modelId="{221DD9DE-3FF0-4B61-9243-60148539492D}" type="sibTrans" cxnId="{C2E46431-A0D0-4C97-BF66-BF0AB8B3147B}">
      <dgm:prSet/>
      <dgm:spPr/>
      <dgm:t>
        <a:bodyPr/>
        <a:lstStyle/>
        <a:p>
          <a:endParaRPr lang="en-US"/>
        </a:p>
      </dgm:t>
    </dgm:pt>
    <dgm:pt modelId="{E826B8BE-9783-4680-9637-48ED3F564E64}">
      <dgm:prSet/>
      <dgm:spPr/>
      <dgm:t>
        <a:bodyPr/>
        <a:lstStyle/>
        <a:p>
          <a:r>
            <a:rPr lang="en-US" b="1" dirty="0"/>
            <a:t>Deep Learning (Accuracy 53%):</a:t>
          </a:r>
          <a:r>
            <a:rPr lang="en-US" dirty="0"/>
            <a:t> La Red Neuronal </a:t>
          </a:r>
          <a:r>
            <a:rPr lang="en-US" dirty="0" err="1"/>
            <a:t>demostró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capacidad</a:t>
          </a:r>
          <a:r>
            <a:rPr lang="en-US" dirty="0"/>
            <a:t> superior para </a:t>
          </a:r>
          <a:r>
            <a:rPr lang="en-US" dirty="0" err="1"/>
            <a:t>captar</a:t>
          </a:r>
          <a:r>
            <a:rPr lang="en-US" dirty="0"/>
            <a:t> </a:t>
          </a:r>
          <a:r>
            <a:rPr lang="en-US" dirty="0" err="1"/>
            <a:t>patrones</a:t>
          </a:r>
          <a:r>
            <a:rPr lang="en-US" dirty="0"/>
            <a:t> </a:t>
          </a:r>
          <a:r>
            <a:rPr lang="en-US" dirty="0" err="1"/>
            <a:t>complejos</a:t>
          </a:r>
          <a:r>
            <a:rPr lang="en-US" dirty="0"/>
            <a:t>, </a:t>
          </a:r>
          <a:r>
            <a:rPr lang="en-US" dirty="0" err="1"/>
            <a:t>superando</a:t>
          </a:r>
          <a:r>
            <a:rPr lang="en-US" dirty="0"/>
            <a:t> al </a:t>
          </a:r>
          <a:r>
            <a:rPr lang="en-US" dirty="0" err="1"/>
            <a:t>modelo</a:t>
          </a:r>
          <a:r>
            <a:rPr lang="en-US" dirty="0"/>
            <a:t> base </a:t>
          </a:r>
          <a:r>
            <a:rPr lang="en-US" dirty="0" err="1"/>
            <a:t>por</a:t>
          </a:r>
          <a:r>
            <a:rPr lang="en-US" dirty="0"/>
            <a:t> un 10%, </a:t>
          </a:r>
          <a:r>
            <a:rPr lang="en-US" dirty="0" err="1"/>
            <a:t>aunque</a:t>
          </a:r>
          <a:r>
            <a:rPr lang="en-US" dirty="0"/>
            <a:t> con un </a:t>
          </a:r>
          <a:r>
            <a:rPr lang="en-US" dirty="0" err="1"/>
            <a:t>costo</a:t>
          </a:r>
          <a:r>
            <a:rPr lang="en-US" dirty="0"/>
            <a:t> </a:t>
          </a:r>
          <a:r>
            <a:rPr lang="en-US" dirty="0" err="1"/>
            <a:t>computacional</a:t>
          </a:r>
          <a:r>
            <a:rPr lang="en-US" dirty="0"/>
            <a:t> mayor.</a:t>
          </a:r>
        </a:p>
      </dgm:t>
    </dgm:pt>
    <dgm:pt modelId="{07A09A73-A2AE-4ED8-A5EE-2FECB0DDCB78}" type="parTrans" cxnId="{88FDE7DF-C25F-48A3-9D8F-1AC4494765F6}">
      <dgm:prSet/>
      <dgm:spPr/>
      <dgm:t>
        <a:bodyPr/>
        <a:lstStyle/>
        <a:p>
          <a:endParaRPr lang="en-US"/>
        </a:p>
      </dgm:t>
    </dgm:pt>
    <dgm:pt modelId="{5D615045-5858-4036-8FE1-1E0E7EC53493}" type="sibTrans" cxnId="{88FDE7DF-C25F-48A3-9D8F-1AC4494765F6}">
      <dgm:prSet/>
      <dgm:spPr/>
      <dgm:t>
        <a:bodyPr/>
        <a:lstStyle/>
        <a:p>
          <a:endParaRPr lang="en-US"/>
        </a:p>
      </dgm:t>
    </dgm:pt>
    <dgm:pt modelId="{713CD92E-F184-4A13-998A-FC2EF24AC4C7}">
      <dgm:prSet/>
      <dgm:spPr/>
      <dgm:t>
        <a:bodyPr/>
        <a:lstStyle/>
        <a:p>
          <a:r>
            <a:rPr lang="en-US" b="1"/>
            <a:t>SVM - LinearSVC (Accuracy 55%):</a:t>
          </a:r>
          <a:r>
            <a:rPr lang="en-US"/>
            <a:t> Resultó ser el modelo más robusto para esta granularidad, logrando el mejor equilibrio entre precisión y tiempo de respuesta.</a:t>
          </a:r>
        </a:p>
      </dgm:t>
    </dgm:pt>
    <dgm:pt modelId="{B2E13B37-4FBD-4940-9736-136F30374816}" type="parTrans" cxnId="{F4283E1F-4AC2-4942-99A3-4BD3894117DC}">
      <dgm:prSet/>
      <dgm:spPr/>
      <dgm:t>
        <a:bodyPr/>
        <a:lstStyle/>
        <a:p>
          <a:endParaRPr lang="en-US"/>
        </a:p>
      </dgm:t>
    </dgm:pt>
    <dgm:pt modelId="{C9F9AD38-8D13-4A0D-B49B-82D73704E0F8}" type="sibTrans" cxnId="{F4283E1F-4AC2-4942-99A3-4BD3894117DC}">
      <dgm:prSet/>
      <dgm:spPr/>
      <dgm:t>
        <a:bodyPr/>
        <a:lstStyle/>
        <a:p>
          <a:endParaRPr lang="en-US"/>
        </a:p>
      </dgm:t>
    </dgm:pt>
    <dgm:pt modelId="{ED7E0E47-57AA-4F1E-A0C1-5903B58C13E8}" type="pres">
      <dgm:prSet presAssocID="{D353F09A-583F-46D8-93D3-6AFEE64F8026}" presName="Name0" presStyleCnt="0">
        <dgm:presLayoutVars>
          <dgm:dir/>
          <dgm:animLvl val="lvl"/>
          <dgm:resizeHandles val="exact"/>
        </dgm:presLayoutVars>
      </dgm:prSet>
      <dgm:spPr/>
    </dgm:pt>
    <dgm:pt modelId="{240BE6C7-D181-417E-8E12-9FB94A32676E}" type="pres">
      <dgm:prSet presAssocID="{565A5826-784E-4F97-AEB8-6FC5EE3AC5EE}" presName="linNode" presStyleCnt="0"/>
      <dgm:spPr/>
    </dgm:pt>
    <dgm:pt modelId="{9EBAB14C-AA6A-4E63-903E-FD54981C1118}" type="pres">
      <dgm:prSet presAssocID="{565A5826-784E-4F97-AEB8-6FC5EE3AC5E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FC1D35B-5B6A-4D04-AB30-73EB1C45BB7D}" type="pres">
      <dgm:prSet presAssocID="{565A5826-784E-4F97-AEB8-6FC5EE3AC5EE}" presName="descendantText" presStyleLbl="alignAccFollowNode1" presStyleIdx="0" presStyleCnt="2">
        <dgm:presLayoutVars>
          <dgm:bulletEnabled val="1"/>
        </dgm:presLayoutVars>
      </dgm:prSet>
      <dgm:spPr/>
    </dgm:pt>
    <dgm:pt modelId="{09E1DB57-D1DD-4987-A094-614E96E0B3BE}" type="pres">
      <dgm:prSet presAssocID="{EF8D83B6-C10D-4066-90ED-41A038A23315}" presName="sp" presStyleCnt="0"/>
      <dgm:spPr/>
    </dgm:pt>
    <dgm:pt modelId="{0C676153-088B-478B-A44E-FEA8EB6AFFDD}" type="pres">
      <dgm:prSet presAssocID="{9774BB44-633B-42A1-A99C-B60F3BA9AA1F}" presName="linNode" presStyleCnt="0"/>
      <dgm:spPr/>
    </dgm:pt>
    <dgm:pt modelId="{FEDCDB1F-A1BD-45A0-8921-04823BF64439}" type="pres">
      <dgm:prSet presAssocID="{9774BB44-633B-42A1-A99C-B60F3BA9AA1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741D07AF-A4AD-4AE3-8C30-849217CF8D25}" type="pres">
      <dgm:prSet presAssocID="{9774BB44-633B-42A1-A99C-B60F3BA9AA1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F9A7809-7360-4890-9FBA-588E438144E2}" type="presOf" srcId="{ECAD9A5E-9A5C-426A-96F2-7093E99CC62D}" destId="{2FC1D35B-5B6A-4D04-AB30-73EB1C45BB7D}" srcOrd="0" destOrd="0" presId="urn:microsoft.com/office/officeart/2005/8/layout/vList5"/>
    <dgm:cxn modelId="{5BA7500A-C7D5-4496-B683-13FF6A8DE1F2}" type="presOf" srcId="{565A5826-784E-4F97-AEB8-6FC5EE3AC5EE}" destId="{9EBAB14C-AA6A-4E63-903E-FD54981C1118}" srcOrd="0" destOrd="0" presId="urn:microsoft.com/office/officeart/2005/8/layout/vList5"/>
    <dgm:cxn modelId="{F4283E1F-4AC2-4942-99A3-4BD3894117DC}" srcId="{F2E74C07-98DC-462F-9D1D-2CBB3EE82D19}" destId="{713CD92E-F184-4A13-998A-FC2EF24AC4C7}" srcOrd="2" destOrd="0" parTransId="{B2E13B37-4FBD-4940-9736-136F30374816}" sibTransId="{C9F9AD38-8D13-4A0D-B49B-82D73704E0F8}"/>
    <dgm:cxn modelId="{05AE1D2B-3E70-445D-9620-CF8AC28C42B5}" type="presOf" srcId="{713CD92E-F184-4A13-998A-FC2EF24AC4C7}" destId="{741D07AF-A4AD-4AE3-8C30-849217CF8D25}" srcOrd="0" destOrd="3" presId="urn:microsoft.com/office/officeart/2005/8/layout/vList5"/>
    <dgm:cxn modelId="{C2E46431-A0D0-4C97-BF66-BF0AB8B3147B}" srcId="{F2E74C07-98DC-462F-9D1D-2CBB3EE82D19}" destId="{DC51C6FC-8B5C-43D5-8605-318C0268442D}" srcOrd="0" destOrd="0" parTransId="{9557B72C-DB6D-43AC-8C8C-3B34026A1352}" sibTransId="{221DD9DE-3FF0-4B61-9243-60148539492D}"/>
    <dgm:cxn modelId="{8B47523B-A464-41FD-85C8-8EB5FAA16D5E}" type="presOf" srcId="{E826B8BE-9783-4680-9637-48ED3F564E64}" destId="{741D07AF-A4AD-4AE3-8C30-849217CF8D25}" srcOrd="0" destOrd="2" presId="urn:microsoft.com/office/officeart/2005/8/layout/vList5"/>
    <dgm:cxn modelId="{F3045969-45C4-4CC7-9640-285986B678E1}" type="presOf" srcId="{DC51C6FC-8B5C-43D5-8605-318C0268442D}" destId="{741D07AF-A4AD-4AE3-8C30-849217CF8D25}" srcOrd="0" destOrd="1" presId="urn:microsoft.com/office/officeart/2005/8/layout/vList5"/>
    <dgm:cxn modelId="{4E253E6C-23A5-4D29-93E0-3DAA3AF5A908}" type="presOf" srcId="{D353F09A-583F-46D8-93D3-6AFEE64F8026}" destId="{ED7E0E47-57AA-4F1E-A0C1-5903B58C13E8}" srcOrd="0" destOrd="0" presId="urn:microsoft.com/office/officeart/2005/8/layout/vList5"/>
    <dgm:cxn modelId="{2618C850-FF96-4935-909A-646C14022EAE}" type="presOf" srcId="{F2E74C07-98DC-462F-9D1D-2CBB3EE82D19}" destId="{741D07AF-A4AD-4AE3-8C30-849217CF8D25}" srcOrd="0" destOrd="0" presId="urn:microsoft.com/office/officeart/2005/8/layout/vList5"/>
    <dgm:cxn modelId="{C1222658-4663-4F64-947B-854A1F6748CC}" srcId="{9774BB44-633B-42A1-A99C-B60F3BA9AA1F}" destId="{F2E74C07-98DC-462F-9D1D-2CBB3EE82D19}" srcOrd="0" destOrd="0" parTransId="{72B3D9E1-7A25-4E4C-9394-11AFCEFBFBB3}" sibTransId="{D8726261-A40D-40F1-AE55-5B296A8BE061}"/>
    <dgm:cxn modelId="{16D262B0-55D7-439A-A025-5580C365FDFE}" srcId="{D353F09A-583F-46D8-93D3-6AFEE64F8026}" destId="{9774BB44-633B-42A1-A99C-B60F3BA9AA1F}" srcOrd="1" destOrd="0" parTransId="{F313E755-D5F9-42C6-A0C6-605B5BA0DAB1}" sibTransId="{8214933C-5C4E-4EAC-A976-2695541BB802}"/>
    <dgm:cxn modelId="{1782DBC5-F400-43F5-ABD0-A45D51E7F9AB}" type="presOf" srcId="{9774BB44-633B-42A1-A99C-B60F3BA9AA1F}" destId="{FEDCDB1F-A1BD-45A0-8921-04823BF64439}" srcOrd="0" destOrd="0" presId="urn:microsoft.com/office/officeart/2005/8/layout/vList5"/>
    <dgm:cxn modelId="{88FDE7DF-C25F-48A3-9D8F-1AC4494765F6}" srcId="{F2E74C07-98DC-462F-9D1D-2CBB3EE82D19}" destId="{E826B8BE-9783-4680-9637-48ED3F564E64}" srcOrd="1" destOrd="0" parTransId="{07A09A73-A2AE-4ED8-A5EE-2FECB0DDCB78}" sibTransId="{5D615045-5858-4036-8FE1-1E0E7EC53493}"/>
    <dgm:cxn modelId="{F5AF10E9-FB4D-43B8-8305-BDD96AF41840}" srcId="{D353F09A-583F-46D8-93D3-6AFEE64F8026}" destId="{565A5826-784E-4F97-AEB8-6FC5EE3AC5EE}" srcOrd="0" destOrd="0" parTransId="{D12C3E2C-ACEB-45BC-AF06-707D4C16565F}" sibTransId="{EF8D83B6-C10D-4066-90ED-41A038A23315}"/>
    <dgm:cxn modelId="{3FA6FFEC-6031-48F0-B66A-D134EB00D17F}" srcId="{565A5826-784E-4F97-AEB8-6FC5EE3AC5EE}" destId="{ECAD9A5E-9A5C-426A-96F2-7093E99CC62D}" srcOrd="0" destOrd="0" parTransId="{C97819D0-E026-4355-A41A-3D3CDB1CB8EC}" sibTransId="{A084E6D8-A134-4196-BAA9-9E5153479217}"/>
    <dgm:cxn modelId="{E4DACD4E-397F-4BD4-9ACA-A694F74ADF5C}" type="presParOf" srcId="{ED7E0E47-57AA-4F1E-A0C1-5903B58C13E8}" destId="{240BE6C7-D181-417E-8E12-9FB94A32676E}" srcOrd="0" destOrd="0" presId="urn:microsoft.com/office/officeart/2005/8/layout/vList5"/>
    <dgm:cxn modelId="{29DD09E3-017E-4268-AF28-7A1B7C5872CA}" type="presParOf" srcId="{240BE6C7-D181-417E-8E12-9FB94A32676E}" destId="{9EBAB14C-AA6A-4E63-903E-FD54981C1118}" srcOrd="0" destOrd="0" presId="urn:microsoft.com/office/officeart/2005/8/layout/vList5"/>
    <dgm:cxn modelId="{51FB9133-A36C-4532-B568-5C21FC4FDF55}" type="presParOf" srcId="{240BE6C7-D181-417E-8E12-9FB94A32676E}" destId="{2FC1D35B-5B6A-4D04-AB30-73EB1C45BB7D}" srcOrd="1" destOrd="0" presId="urn:microsoft.com/office/officeart/2005/8/layout/vList5"/>
    <dgm:cxn modelId="{2B98FAB9-73D1-454D-9E5E-CA98D7688A60}" type="presParOf" srcId="{ED7E0E47-57AA-4F1E-A0C1-5903B58C13E8}" destId="{09E1DB57-D1DD-4987-A094-614E96E0B3BE}" srcOrd="1" destOrd="0" presId="urn:microsoft.com/office/officeart/2005/8/layout/vList5"/>
    <dgm:cxn modelId="{4BB92F29-5DD6-4375-8B5D-0E5909FEF409}" type="presParOf" srcId="{ED7E0E47-57AA-4F1E-A0C1-5903B58C13E8}" destId="{0C676153-088B-478B-A44E-FEA8EB6AFFDD}" srcOrd="2" destOrd="0" presId="urn:microsoft.com/office/officeart/2005/8/layout/vList5"/>
    <dgm:cxn modelId="{0B88B75D-1F79-4B5E-9A14-363D1C04D48C}" type="presParOf" srcId="{0C676153-088B-478B-A44E-FEA8EB6AFFDD}" destId="{FEDCDB1F-A1BD-45A0-8921-04823BF64439}" srcOrd="0" destOrd="0" presId="urn:microsoft.com/office/officeart/2005/8/layout/vList5"/>
    <dgm:cxn modelId="{3CC5FEB5-69E2-4972-81BC-9C6191EEB6A8}" type="presParOf" srcId="{0C676153-088B-478B-A44E-FEA8EB6AFFDD}" destId="{741D07AF-A4AD-4AE3-8C30-849217CF8D2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1D35B-5B6A-4D04-AB30-73EB1C45BB7D}">
      <dsp:nvSpPr>
        <dsp:cNvPr id="0" name=""/>
        <dsp:cNvSpPr/>
      </dsp:nvSpPr>
      <dsp:spPr>
        <a:xfrm rot="5400000">
          <a:off x="3986714" y="-1251676"/>
          <a:ext cx="1602168" cy="45061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Determinar la capacidad de tres arquitecturas de IA para distinguir matices emocionales finos (</a:t>
          </a:r>
          <a:r>
            <a:rPr lang="en-US" sz="900" i="1" kern="1200"/>
            <a:t>Extremo</a:t>
          </a:r>
          <a:r>
            <a:rPr lang="en-US" sz="900" kern="1200"/>
            <a:t> vs. </a:t>
          </a:r>
          <a:r>
            <a:rPr lang="en-US" sz="900" i="1" kern="1200"/>
            <a:t>Regular</a:t>
          </a:r>
          <a:r>
            <a:rPr lang="en-US" sz="900" kern="1200"/>
            <a:t>) en el comportamiento del consumidor.</a:t>
          </a:r>
        </a:p>
      </dsp:txBody>
      <dsp:txXfrm rot="-5400000">
        <a:off x="2534717" y="278532"/>
        <a:ext cx="4427952" cy="1445746"/>
      </dsp:txXfrm>
    </dsp:sp>
    <dsp:sp modelId="{9EBAB14C-AA6A-4E63-903E-FD54981C1118}">
      <dsp:nvSpPr>
        <dsp:cNvPr id="0" name=""/>
        <dsp:cNvSpPr/>
      </dsp:nvSpPr>
      <dsp:spPr>
        <a:xfrm>
          <a:off x="0" y="50"/>
          <a:ext cx="2534716" cy="2002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Objetivo Técnico</a:t>
          </a:r>
          <a:endParaRPr lang="en-US" sz="2500" kern="1200"/>
        </a:p>
      </dsp:txBody>
      <dsp:txXfrm>
        <a:off x="97764" y="97814"/>
        <a:ext cx="2339188" cy="1807182"/>
      </dsp:txXfrm>
    </dsp:sp>
    <dsp:sp modelId="{741D07AF-A4AD-4AE3-8C30-849217CF8D25}">
      <dsp:nvSpPr>
        <dsp:cNvPr id="0" name=""/>
        <dsp:cNvSpPr/>
      </dsp:nvSpPr>
      <dsp:spPr>
        <a:xfrm rot="5400000">
          <a:off x="3986714" y="851169"/>
          <a:ext cx="1602168" cy="45061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Se comparó el desempeño de modelos estadísticos, lineales y de aprendizaje profundo: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Naïve Bayes (Accuracy 43%):</a:t>
          </a:r>
          <a:r>
            <a:rPr lang="en-US" sz="900" kern="1200"/>
            <a:t> Funcionó como línea base. Mostró una tendencia conservadora, fallando significativamente en detectar los "Extremos", lo cual es crítico para identificar crisis reales.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Deep Learning (Accuracy 53%):</a:t>
          </a:r>
          <a:r>
            <a:rPr lang="en-US" sz="900" kern="1200" dirty="0"/>
            <a:t> La Red Neuronal </a:t>
          </a:r>
          <a:r>
            <a:rPr lang="en-US" sz="900" kern="1200" dirty="0" err="1"/>
            <a:t>demostró</a:t>
          </a:r>
          <a:r>
            <a:rPr lang="en-US" sz="900" kern="1200" dirty="0"/>
            <a:t> </a:t>
          </a:r>
          <a:r>
            <a:rPr lang="en-US" sz="900" kern="1200" dirty="0" err="1"/>
            <a:t>una</a:t>
          </a:r>
          <a:r>
            <a:rPr lang="en-US" sz="900" kern="1200" dirty="0"/>
            <a:t> </a:t>
          </a:r>
          <a:r>
            <a:rPr lang="en-US" sz="900" kern="1200" dirty="0" err="1"/>
            <a:t>capacidad</a:t>
          </a:r>
          <a:r>
            <a:rPr lang="en-US" sz="900" kern="1200" dirty="0"/>
            <a:t> superior para </a:t>
          </a:r>
          <a:r>
            <a:rPr lang="en-US" sz="900" kern="1200" dirty="0" err="1"/>
            <a:t>captar</a:t>
          </a:r>
          <a:r>
            <a:rPr lang="en-US" sz="900" kern="1200" dirty="0"/>
            <a:t> </a:t>
          </a:r>
          <a:r>
            <a:rPr lang="en-US" sz="900" kern="1200" dirty="0" err="1"/>
            <a:t>patrones</a:t>
          </a:r>
          <a:r>
            <a:rPr lang="en-US" sz="900" kern="1200" dirty="0"/>
            <a:t> </a:t>
          </a:r>
          <a:r>
            <a:rPr lang="en-US" sz="900" kern="1200" dirty="0" err="1"/>
            <a:t>complejos</a:t>
          </a:r>
          <a:r>
            <a:rPr lang="en-US" sz="900" kern="1200" dirty="0"/>
            <a:t>, </a:t>
          </a:r>
          <a:r>
            <a:rPr lang="en-US" sz="900" kern="1200" dirty="0" err="1"/>
            <a:t>superando</a:t>
          </a:r>
          <a:r>
            <a:rPr lang="en-US" sz="900" kern="1200" dirty="0"/>
            <a:t> al </a:t>
          </a:r>
          <a:r>
            <a:rPr lang="en-US" sz="900" kern="1200" dirty="0" err="1"/>
            <a:t>modelo</a:t>
          </a:r>
          <a:r>
            <a:rPr lang="en-US" sz="900" kern="1200" dirty="0"/>
            <a:t> base </a:t>
          </a:r>
          <a:r>
            <a:rPr lang="en-US" sz="900" kern="1200" dirty="0" err="1"/>
            <a:t>por</a:t>
          </a:r>
          <a:r>
            <a:rPr lang="en-US" sz="900" kern="1200" dirty="0"/>
            <a:t> un 10%, </a:t>
          </a:r>
          <a:r>
            <a:rPr lang="en-US" sz="900" kern="1200" dirty="0" err="1"/>
            <a:t>aunque</a:t>
          </a:r>
          <a:r>
            <a:rPr lang="en-US" sz="900" kern="1200" dirty="0"/>
            <a:t> con un </a:t>
          </a:r>
          <a:r>
            <a:rPr lang="en-US" sz="900" kern="1200" dirty="0" err="1"/>
            <a:t>costo</a:t>
          </a:r>
          <a:r>
            <a:rPr lang="en-US" sz="900" kern="1200" dirty="0"/>
            <a:t> </a:t>
          </a:r>
          <a:r>
            <a:rPr lang="en-US" sz="900" kern="1200" dirty="0" err="1"/>
            <a:t>computacional</a:t>
          </a:r>
          <a:r>
            <a:rPr lang="en-US" sz="900" kern="1200" dirty="0"/>
            <a:t> mayor.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SVM - LinearSVC (Accuracy 55%):</a:t>
          </a:r>
          <a:r>
            <a:rPr lang="en-US" sz="900" kern="1200"/>
            <a:t> Resultó ser el modelo más robusto para esta granularidad, logrando el mejor equilibrio entre precisión y tiempo de respuesta.</a:t>
          </a:r>
        </a:p>
      </dsp:txBody>
      <dsp:txXfrm rot="-5400000">
        <a:off x="2534717" y="2381378"/>
        <a:ext cx="4427952" cy="1445746"/>
      </dsp:txXfrm>
    </dsp:sp>
    <dsp:sp modelId="{FEDCDB1F-A1BD-45A0-8921-04823BF64439}">
      <dsp:nvSpPr>
        <dsp:cNvPr id="0" name=""/>
        <dsp:cNvSpPr/>
      </dsp:nvSpPr>
      <dsp:spPr>
        <a:xfrm>
          <a:off x="0" y="2102895"/>
          <a:ext cx="2534716" cy="2002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Resultados del Benchmarking</a:t>
          </a:r>
          <a:endParaRPr lang="en-US" sz="2500" kern="1200"/>
        </a:p>
      </dsp:txBody>
      <dsp:txXfrm>
        <a:off x="97764" y="2200659"/>
        <a:ext cx="2339188" cy="18071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1D35B-5B6A-4D04-AB30-73EB1C45BB7D}">
      <dsp:nvSpPr>
        <dsp:cNvPr id="0" name=""/>
        <dsp:cNvSpPr/>
      </dsp:nvSpPr>
      <dsp:spPr>
        <a:xfrm rot="5400000">
          <a:off x="3986714" y="-1251676"/>
          <a:ext cx="1602168" cy="45061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Determinar la capacidad de tres arquitecturas de IA para distinguir matices emocionales finos (</a:t>
          </a:r>
          <a:r>
            <a:rPr lang="en-US" sz="900" i="1" kern="1200"/>
            <a:t>Extremo</a:t>
          </a:r>
          <a:r>
            <a:rPr lang="en-US" sz="900" kern="1200"/>
            <a:t> vs. </a:t>
          </a:r>
          <a:r>
            <a:rPr lang="en-US" sz="900" i="1" kern="1200"/>
            <a:t>Regular</a:t>
          </a:r>
          <a:r>
            <a:rPr lang="en-US" sz="900" kern="1200"/>
            <a:t>) en el comportamiento del consumidor.</a:t>
          </a:r>
        </a:p>
      </dsp:txBody>
      <dsp:txXfrm rot="-5400000">
        <a:off x="2534717" y="278532"/>
        <a:ext cx="4427952" cy="1445746"/>
      </dsp:txXfrm>
    </dsp:sp>
    <dsp:sp modelId="{9EBAB14C-AA6A-4E63-903E-FD54981C1118}">
      <dsp:nvSpPr>
        <dsp:cNvPr id="0" name=""/>
        <dsp:cNvSpPr/>
      </dsp:nvSpPr>
      <dsp:spPr>
        <a:xfrm>
          <a:off x="0" y="50"/>
          <a:ext cx="2534716" cy="2002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Objetivo Técnico</a:t>
          </a:r>
          <a:endParaRPr lang="en-US" sz="2500" kern="1200"/>
        </a:p>
      </dsp:txBody>
      <dsp:txXfrm>
        <a:off x="97764" y="97814"/>
        <a:ext cx="2339188" cy="1807182"/>
      </dsp:txXfrm>
    </dsp:sp>
    <dsp:sp modelId="{741D07AF-A4AD-4AE3-8C30-849217CF8D25}">
      <dsp:nvSpPr>
        <dsp:cNvPr id="0" name=""/>
        <dsp:cNvSpPr/>
      </dsp:nvSpPr>
      <dsp:spPr>
        <a:xfrm rot="5400000">
          <a:off x="3986714" y="851169"/>
          <a:ext cx="1602168" cy="45061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Se comparó el desempeño de modelos estadísticos, lineales y de aprendizaje profundo: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Naïve Bayes (Accuracy 43%):</a:t>
          </a:r>
          <a:r>
            <a:rPr lang="en-US" sz="900" kern="1200"/>
            <a:t> Funcionó como línea base. Mostró una tendencia conservadora, fallando significativamente en detectar los "Extremos", lo cual es crítico para identificar crisis reales.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Deep Learning (Accuracy 53%):</a:t>
          </a:r>
          <a:r>
            <a:rPr lang="en-US" sz="900" kern="1200" dirty="0"/>
            <a:t> La Red Neuronal </a:t>
          </a:r>
          <a:r>
            <a:rPr lang="en-US" sz="900" kern="1200" dirty="0" err="1"/>
            <a:t>demostró</a:t>
          </a:r>
          <a:r>
            <a:rPr lang="en-US" sz="900" kern="1200" dirty="0"/>
            <a:t> </a:t>
          </a:r>
          <a:r>
            <a:rPr lang="en-US" sz="900" kern="1200" dirty="0" err="1"/>
            <a:t>una</a:t>
          </a:r>
          <a:r>
            <a:rPr lang="en-US" sz="900" kern="1200" dirty="0"/>
            <a:t> </a:t>
          </a:r>
          <a:r>
            <a:rPr lang="en-US" sz="900" kern="1200" dirty="0" err="1"/>
            <a:t>capacidad</a:t>
          </a:r>
          <a:r>
            <a:rPr lang="en-US" sz="900" kern="1200" dirty="0"/>
            <a:t> superior para </a:t>
          </a:r>
          <a:r>
            <a:rPr lang="en-US" sz="900" kern="1200" dirty="0" err="1"/>
            <a:t>captar</a:t>
          </a:r>
          <a:r>
            <a:rPr lang="en-US" sz="900" kern="1200" dirty="0"/>
            <a:t> </a:t>
          </a:r>
          <a:r>
            <a:rPr lang="en-US" sz="900" kern="1200" dirty="0" err="1"/>
            <a:t>patrones</a:t>
          </a:r>
          <a:r>
            <a:rPr lang="en-US" sz="900" kern="1200" dirty="0"/>
            <a:t> </a:t>
          </a:r>
          <a:r>
            <a:rPr lang="en-US" sz="900" kern="1200" dirty="0" err="1"/>
            <a:t>complejos</a:t>
          </a:r>
          <a:r>
            <a:rPr lang="en-US" sz="900" kern="1200" dirty="0"/>
            <a:t>, </a:t>
          </a:r>
          <a:r>
            <a:rPr lang="en-US" sz="900" kern="1200" dirty="0" err="1"/>
            <a:t>superando</a:t>
          </a:r>
          <a:r>
            <a:rPr lang="en-US" sz="900" kern="1200" dirty="0"/>
            <a:t> al </a:t>
          </a:r>
          <a:r>
            <a:rPr lang="en-US" sz="900" kern="1200" dirty="0" err="1"/>
            <a:t>modelo</a:t>
          </a:r>
          <a:r>
            <a:rPr lang="en-US" sz="900" kern="1200" dirty="0"/>
            <a:t> base </a:t>
          </a:r>
          <a:r>
            <a:rPr lang="en-US" sz="900" kern="1200" dirty="0" err="1"/>
            <a:t>por</a:t>
          </a:r>
          <a:r>
            <a:rPr lang="en-US" sz="900" kern="1200" dirty="0"/>
            <a:t> un 10%, </a:t>
          </a:r>
          <a:r>
            <a:rPr lang="en-US" sz="900" kern="1200" dirty="0" err="1"/>
            <a:t>aunque</a:t>
          </a:r>
          <a:r>
            <a:rPr lang="en-US" sz="900" kern="1200" dirty="0"/>
            <a:t> con un </a:t>
          </a:r>
          <a:r>
            <a:rPr lang="en-US" sz="900" kern="1200" dirty="0" err="1"/>
            <a:t>costo</a:t>
          </a:r>
          <a:r>
            <a:rPr lang="en-US" sz="900" kern="1200" dirty="0"/>
            <a:t> </a:t>
          </a:r>
          <a:r>
            <a:rPr lang="en-US" sz="900" kern="1200" dirty="0" err="1"/>
            <a:t>computacional</a:t>
          </a:r>
          <a:r>
            <a:rPr lang="en-US" sz="900" kern="1200" dirty="0"/>
            <a:t> mayor.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SVM - LinearSVC (Accuracy 55%):</a:t>
          </a:r>
          <a:r>
            <a:rPr lang="en-US" sz="900" kern="1200"/>
            <a:t> Resultó ser el modelo más robusto para esta granularidad, logrando el mejor equilibrio entre precisión y tiempo de respuesta.</a:t>
          </a:r>
        </a:p>
      </dsp:txBody>
      <dsp:txXfrm rot="-5400000">
        <a:off x="2534717" y="2381378"/>
        <a:ext cx="4427952" cy="1445746"/>
      </dsp:txXfrm>
    </dsp:sp>
    <dsp:sp modelId="{FEDCDB1F-A1BD-45A0-8921-04823BF64439}">
      <dsp:nvSpPr>
        <dsp:cNvPr id="0" name=""/>
        <dsp:cNvSpPr/>
      </dsp:nvSpPr>
      <dsp:spPr>
        <a:xfrm>
          <a:off x="0" y="2102895"/>
          <a:ext cx="2534716" cy="2002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Resultados del Benchmarking</a:t>
          </a:r>
          <a:endParaRPr lang="en-US" sz="2500" kern="1200"/>
        </a:p>
      </dsp:txBody>
      <dsp:txXfrm>
        <a:off x="97764" y="2200659"/>
        <a:ext cx="2339188" cy="1807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4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3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8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1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4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0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55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3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11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8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2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4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03C19-FAB8-D648-F315-FEEA59AD7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r>
              <a:rPr lang="es-GT" sz="4800">
                <a:solidFill>
                  <a:schemeClr val="tx2"/>
                </a:solidFill>
              </a:rPr>
              <a:t>Proyecto final text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699E5-9437-3342-9A1B-AECD5F8AF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078794"/>
            <a:ext cx="3465681" cy="1900842"/>
          </a:xfrm>
        </p:spPr>
        <p:txBody>
          <a:bodyPr anchor="t">
            <a:normAutofit/>
          </a:bodyPr>
          <a:lstStyle/>
          <a:p>
            <a:r>
              <a:rPr lang="es-GT"/>
              <a:t>Javier Valle</a:t>
            </a:r>
          </a:p>
          <a:p>
            <a:r>
              <a:rPr lang="es-GT"/>
              <a:t>José David Us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9665D9-9205-4D83-F657-2FAB1A1955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00" r="26329" b="1"/>
          <a:stretch>
            <a:fillRect/>
          </a:stretch>
        </p:blipFill>
        <p:spPr>
          <a:xfrm>
            <a:off x="5215846" y="751093"/>
            <a:ext cx="5605435" cy="5254670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34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D6DA9-58EE-22DA-8366-6028C01C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GT" dirty="0"/>
              <a:t>Caso de uso: </a:t>
            </a:r>
            <a:r>
              <a:rPr lang="es-MX" dirty="0"/>
              <a:t>Optimización Logística mediante IA: Análisis de Sentimiento en Crisis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B771C-1714-09D8-2C48-C2BD58C3A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b="1" dirty="0"/>
              <a:t>1. El Problema: El Modelo Reactivo</a:t>
            </a:r>
          </a:p>
          <a:p>
            <a:pPr lvl="1" algn="just"/>
            <a:r>
              <a:rPr lang="es-MX" dirty="0"/>
              <a:t>En crisis, el consumidor guatemalteco recurre a </a:t>
            </a:r>
            <a:r>
              <a:rPr lang="es-MX" b="1" dirty="0"/>
              <a:t>compras de pánico</a:t>
            </a:r>
            <a:r>
              <a:rPr lang="es-MX" dirty="0"/>
              <a:t>.</a:t>
            </a:r>
          </a:p>
          <a:p>
            <a:pPr lvl="1" algn="just"/>
            <a:r>
              <a:rPr lang="es-MX" b="1" dirty="0"/>
              <a:t>Falla actual:</a:t>
            </a:r>
            <a:r>
              <a:rPr lang="es-MX" dirty="0"/>
              <a:t> La logística tradicional reacciona cuando el estante ya está vacío.</a:t>
            </a:r>
          </a:p>
          <a:p>
            <a:pPr lvl="1" algn="just"/>
            <a:r>
              <a:rPr lang="es-MX" b="1" dirty="0"/>
              <a:t>Impacto:</a:t>
            </a:r>
            <a:r>
              <a:rPr lang="es-MX" dirty="0"/>
              <a:t> Pérdida de ventas y crisis de percepción en cadenas como Walmart, Paiz y La Torre.</a:t>
            </a:r>
          </a:p>
          <a:p>
            <a:pPr marL="0" indent="0" algn="just">
              <a:buNone/>
            </a:pPr>
            <a:r>
              <a:rPr lang="es-MX" b="1" dirty="0"/>
              <a:t>2. La Propuesta: Alerta Temprana con NLP</a:t>
            </a:r>
          </a:p>
          <a:p>
            <a:pPr lvl="1" algn="just"/>
            <a:r>
              <a:rPr lang="es-MX" dirty="0"/>
              <a:t>Sustituir la reacción por la anticipación mediante el procesamiento de lenguaje natural (NLP) en redes sociales.</a:t>
            </a:r>
          </a:p>
          <a:p>
            <a:pPr lvl="1" algn="just"/>
            <a:r>
              <a:rPr lang="es-MX" b="1" dirty="0"/>
              <a:t>Detección:</a:t>
            </a:r>
            <a:r>
              <a:rPr lang="es-MX" dirty="0"/>
              <a:t> Identificación en tiempo real de picos de pánico.</a:t>
            </a:r>
          </a:p>
          <a:p>
            <a:pPr lvl="1" algn="just"/>
            <a:r>
              <a:rPr lang="es-MX" b="1" dirty="0"/>
              <a:t>Acción:</a:t>
            </a:r>
            <a:r>
              <a:rPr lang="es-MX" dirty="0"/>
              <a:t> Redistribución de inventario horas antes de que el sistema de stock reporte el desabasto.</a:t>
            </a:r>
          </a:p>
        </p:txBody>
      </p:sp>
    </p:spTree>
    <p:extLst>
      <p:ext uri="{BB962C8B-B14F-4D97-AF65-F5344CB8AC3E}">
        <p14:creationId xmlns:p14="http://schemas.microsoft.com/office/powerpoint/2010/main" val="137690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E1D79-8154-F9DB-7B3A-5019D906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348B-CBD2-2ED5-3DAD-CFFD7C04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GT" dirty="0" err="1"/>
              <a:t>Insights</a:t>
            </a:r>
            <a:r>
              <a:rPr lang="es-GT" dirty="0"/>
              <a:t> importantes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DCA8A-03AF-4368-C6A6-9EA7E00EC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2" y="2290578"/>
            <a:ext cx="4949952" cy="2952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C642E6-5898-3577-FDD4-5E5D67D57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769" y="3767055"/>
            <a:ext cx="4105557" cy="267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5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F2B39-7F2A-6528-95E4-18F80FB3C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1EA56-46CF-441A-FD72-F5856E7D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19419" cy="3031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Insights importantes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5CC04F-787A-49FA-9065-69EDF439F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9FAD8-36F5-2803-BF8F-8EB96164D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34" r="3" b="3"/>
          <a:stretch>
            <a:fillRect/>
          </a:stretch>
        </p:blipFill>
        <p:spPr>
          <a:xfrm>
            <a:off x="6749578" y="508088"/>
            <a:ext cx="4850266" cy="2807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8C6808-CACD-F0F0-6877-ECBF9B9DB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476" b="2"/>
          <a:stretch>
            <a:fillRect/>
          </a:stretch>
        </p:blipFill>
        <p:spPr>
          <a:xfrm>
            <a:off x="6757382" y="3532493"/>
            <a:ext cx="4850272" cy="28072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FD75E-559A-9EFB-1A46-4EF9BE059EE0}"/>
              </a:ext>
            </a:extLst>
          </p:cNvPr>
          <p:cNvSpPr txBox="1"/>
          <p:nvPr/>
        </p:nvSpPr>
        <p:spPr>
          <a:xfrm>
            <a:off x="330691" y="342899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El EDA confirma que el </a:t>
            </a:r>
            <a:r>
              <a:rPr lang="es-MX" dirty="0" err="1"/>
              <a:t>dataset</a:t>
            </a:r>
            <a:r>
              <a:rPr lang="es-MX" dirty="0"/>
              <a:t> seleccionado captura perfectamente el desabasto logístico y la volatilidad del consumidor guatemalteco. Las palabras clave son operativos y el sentimiento negativo es lo suficientemente fuerte para ser detectado. La calidad del texto es alta, validando la viabilidad técnica para pasar inmediatamente a la fase de modelado de IA.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88077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9335-84CA-A6D3-448C-E99658B63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E4BF-CD4D-9334-5A52-3EA737CB0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19419" cy="3031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Insights importantes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40443-7B14-BEB9-A470-92ED41DB7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34" r="3" b="3"/>
          <a:stretch>
            <a:fillRect/>
          </a:stretch>
        </p:blipFill>
        <p:spPr>
          <a:xfrm>
            <a:off x="6749578" y="508088"/>
            <a:ext cx="4850266" cy="2807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D95471-CF8E-29FF-C0B3-0137F555F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476" b="2"/>
          <a:stretch>
            <a:fillRect/>
          </a:stretch>
        </p:blipFill>
        <p:spPr>
          <a:xfrm>
            <a:off x="6757382" y="3532493"/>
            <a:ext cx="4850272" cy="28072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DE8AC5-AF5D-234B-6610-91EF83BA205D}"/>
              </a:ext>
            </a:extLst>
          </p:cNvPr>
          <p:cNvSpPr txBox="1"/>
          <p:nvPr/>
        </p:nvSpPr>
        <p:spPr>
          <a:xfrm>
            <a:off x="330691" y="342899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El EDA confirma que el </a:t>
            </a:r>
            <a:r>
              <a:rPr lang="es-MX" dirty="0" err="1"/>
              <a:t>dataset</a:t>
            </a:r>
            <a:r>
              <a:rPr lang="es-MX" dirty="0"/>
              <a:t> seleccionado captura perfectamente el desabasto logístico y la volatilidad del consumidor guatemalteco. Las palabras clave son operativos y el sentimiento negativo es lo suficientemente fuerte para ser detectado. La calidad del texto es alta, validando la viabilidad técnica para pasar inmediatamente a la fase de modelado de IA.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15075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D3342-6BD4-62BA-8923-ED7E82DC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DF0F68-63E5-F08A-3B98-1F5FC65E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69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Modelado con 5 sentimientos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F94F4B-6F7A-4270-95A8-469411C14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648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TextBox 18">
            <a:extLst>
              <a:ext uri="{FF2B5EF4-FFF2-40B4-BE49-F238E27FC236}">
                <a16:creationId xmlns:a16="http://schemas.microsoft.com/office/drawing/2014/main" id="{418C5C83-61AD-1021-E31B-DB4BCA023284}"/>
              </a:ext>
            </a:extLst>
          </p:cNvPr>
          <p:cNvGraphicFramePr/>
          <p:nvPr/>
        </p:nvGraphicFramePr>
        <p:xfrm>
          <a:off x="4636008" y="2240280"/>
          <a:ext cx="7040880" cy="4105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264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F842-9782-4874-62A6-AC5DA531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40085-2D63-96DD-4FBE-C40A79666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69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Modelado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5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sentimientos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88BCA2A-88E5-CBD8-D7C9-3BF5C113C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579" y="2048256"/>
            <a:ext cx="3145793" cy="17985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9379C77-7ED4-EDC9-F161-9CEBB99D7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79" y="4002472"/>
            <a:ext cx="3145794" cy="18771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B293B4E-67DA-D1AE-BDD8-D1826C5F5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715" y="2048256"/>
            <a:ext cx="3013830" cy="175806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915CDA0-0B45-1B34-60BB-0F56CF774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123" y="4002472"/>
            <a:ext cx="3593265" cy="214412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E481458-9B59-337B-81AE-9E9A564CF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688" y="2048256"/>
            <a:ext cx="3737191" cy="1578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ADD5B5-2141-3814-6826-366B103CFA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81" y="3806324"/>
            <a:ext cx="4083848" cy="239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331E-F4C3-342F-21B1-25A9A34C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A884-6D36-3434-DA8F-2DB8B6923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69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Modelado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3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sentimientos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0" name="TextBox 18">
            <a:extLst>
              <a:ext uri="{FF2B5EF4-FFF2-40B4-BE49-F238E27FC236}">
                <a16:creationId xmlns:a16="http://schemas.microsoft.com/office/drawing/2014/main" id="{A8035BAA-CE92-653C-EA38-B9B05167871A}"/>
              </a:ext>
            </a:extLst>
          </p:cNvPr>
          <p:cNvGraphicFramePr/>
          <p:nvPr/>
        </p:nvGraphicFramePr>
        <p:xfrm>
          <a:off x="4636008" y="2240280"/>
          <a:ext cx="7040880" cy="4105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936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B6EF-F54D-6A34-5807-753D956A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D9BD1-FCAB-9875-A8DD-9F36480D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69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Modelado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5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sentimientos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D3E401-F373-12D0-267F-441D3AD1D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579" y="2048256"/>
            <a:ext cx="3145793" cy="17985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E0C21B-35F4-3328-1F5D-AD54E78AF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79" y="4002472"/>
            <a:ext cx="3145794" cy="18771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A41CBCE-A9CC-3750-2CB5-7D43929CE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715" y="2048256"/>
            <a:ext cx="3013830" cy="175806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25B7F14-94E4-D4F5-E382-FFC7F6850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123" y="4002472"/>
            <a:ext cx="3593265" cy="214412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C53D4C3-A95F-4AF6-A5BF-5A90B841E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688" y="2048256"/>
            <a:ext cx="3737191" cy="1578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73115A-4711-992D-E0B0-7DDA1A99B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81" y="3806324"/>
            <a:ext cx="4083848" cy="239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546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Bierstadt</vt:lpstr>
      <vt:lpstr>GestaltVTI</vt:lpstr>
      <vt:lpstr>Proyecto final text analytics</vt:lpstr>
      <vt:lpstr>Caso de uso: Optimización Logística mediante IA: Análisis de Sentimiento en Crisis</vt:lpstr>
      <vt:lpstr>Insights importantes</vt:lpstr>
      <vt:lpstr>Insights importantes</vt:lpstr>
      <vt:lpstr>Insights importantes</vt:lpstr>
      <vt:lpstr>Modelado con 5 sentimientos</vt:lpstr>
      <vt:lpstr>Modelado con 5 sentimientos</vt:lpstr>
      <vt:lpstr>Modelado con 3 sentimientos</vt:lpstr>
      <vt:lpstr>Modelado con 5 sentimientos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Sebastián Valle</dc:creator>
  <cp:lastModifiedBy>Javier Sebastián Valle</cp:lastModifiedBy>
  <cp:revision>3</cp:revision>
  <dcterms:created xsi:type="dcterms:W3CDTF">2026-03-21T23:53:54Z</dcterms:created>
  <dcterms:modified xsi:type="dcterms:W3CDTF">2026-03-22T00:34:16Z</dcterms:modified>
</cp:coreProperties>
</file>